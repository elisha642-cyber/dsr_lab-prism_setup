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66" r:id="rId4"/>
    <p:sldId id="259" r:id="rId5"/>
    <p:sldId id="260" r:id="rId6"/>
    <p:sldId id="261" r:id="rId7"/>
    <p:sldId id="267" r:id="rId8"/>
    <p:sldId id="262" r:id="rId9"/>
    <p:sldId id="263" r:id="rId10"/>
    <p:sldId id="264" r:id="rId11"/>
    <p:sldId id="265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40"/>
    <p:restoredTop sz="85885"/>
  </p:normalViewPr>
  <p:slideViewPr>
    <p:cSldViewPr snapToGrid="0">
      <p:cViewPr varScale="1">
        <p:scale>
          <a:sx n="97" d="100"/>
          <a:sy n="97" d="100"/>
        </p:scale>
        <p:origin x="13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60EED8-F7A3-9D4B-8706-32665787BA59}" type="datetimeFigureOut">
              <a:rPr lang="en-IL" smtClean="0"/>
              <a:t>02/23/2025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422AA5-A792-3B47-A9A8-AA8F5405EF6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11738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T</a:t>
            </a:r>
            <a:r>
              <a:rPr lang="en-IL" dirty="0">
                <a:solidFill>
                  <a:srgbClr val="FFFFFF"/>
                </a:solidFill>
              </a:rPr>
              <a:t>he the setup we work on is for measuring SPV </a:t>
            </a:r>
            <a:r>
              <a:rPr lang="en-US" dirty="0">
                <a:solidFill>
                  <a:srgbClr val="FFFFFF"/>
                </a:solidFill>
              </a:rPr>
              <a:t>( surface photo-voltage)</a:t>
            </a:r>
          </a:p>
          <a:p>
            <a:r>
              <a:rPr lang="en-US" dirty="0">
                <a:solidFill>
                  <a:srgbClr val="FFFFFF"/>
                </a:solidFill>
              </a:rPr>
              <a:t>We want to direct a laser beam on a </a:t>
            </a:r>
            <a:r>
              <a:rPr lang="en-US" i="1" dirty="0">
                <a:solidFill>
                  <a:srgbClr val="FFFFFF"/>
                </a:solidFill>
              </a:rPr>
              <a:t>patterned material.</a:t>
            </a:r>
          </a:p>
          <a:p>
            <a:r>
              <a:rPr lang="en-US" i="1" dirty="0">
                <a:solidFill>
                  <a:srgbClr val="FFFFFF"/>
                </a:solidFill>
              </a:rPr>
              <a:t>Due to special limitations we are </a:t>
            </a:r>
            <a:r>
              <a:rPr lang="en-US" dirty="0">
                <a:solidFill>
                  <a:srgbClr val="FFFFFF"/>
                </a:solidFill>
              </a:rPr>
              <a:t>using 2 right angle prisms </a:t>
            </a:r>
            <a:endParaRPr lang="en-IL" dirty="0">
              <a:solidFill>
                <a:srgbClr val="FFFFFF"/>
              </a:solidFill>
            </a:endParaRPr>
          </a:p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422AA5-A792-3B47-A9A8-AA8F5405EF62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15067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>
                    <a:solidFill>
                      <a:srgbClr val="FFFFFF"/>
                    </a:solidFill>
                  </a:rPr>
                  <a:t>For small incident angle the refraction angle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1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L" sz="1200" dirty="0">
                    <a:solidFill>
                      <a:srgbClr val="FFFFFF"/>
                    </a:solidFill>
                  </a:rPr>
                  <a:t>is also the incident angle when exiting the prism so regardless of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L" sz="1200" dirty="0">
                    <a:solidFill>
                      <a:srgbClr val="FFFFFF"/>
                    </a:solidFill>
                  </a:rPr>
                  <a:t> </a:t>
                </a:r>
                <a:br>
                  <a:rPr lang="en-IL" sz="1200" dirty="0">
                    <a:solidFill>
                      <a:srgbClr val="FFFFFF"/>
                    </a:solidFill>
                  </a:rPr>
                </a:br>
                <a:r>
                  <a:rPr lang="en-IL" sz="1200" dirty="0">
                    <a:solidFill>
                      <a:srgbClr val="FFFFFF"/>
                    </a:solidFill>
                  </a:rPr>
                  <a:t>(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L" sz="1200" dirty="0">
                    <a:solidFill>
                      <a:srgbClr val="FFFFFF"/>
                    </a:solidFill>
                  </a:rPr>
                  <a:t>)  the refraction angle will be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12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L" sz="1200" dirty="0">
                    <a:solidFill>
                      <a:srgbClr val="FFFFFF"/>
                    </a:solidFill>
                  </a:rPr>
                  <a:t> with respect for the exit surface. </a:t>
                </a:r>
                <a:r>
                  <a:rPr lang="en-US" sz="1200" dirty="0">
                    <a:solidFill>
                      <a:srgbClr val="FFFFFF"/>
                    </a:solidFill>
                  </a:rPr>
                  <a:t>S</a:t>
                </a:r>
                <a:r>
                  <a:rPr lang="en-IL" sz="1200" dirty="0">
                    <a:solidFill>
                      <a:srgbClr val="FFFFFF"/>
                    </a:solidFill>
                  </a:rPr>
                  <a:t>o </a:t>
                </a:r>
                <a14:m>
                  <m:oMath xmlns:m="http://schemas.openxmlformats.org/officeDocument/2006/math">
                    <m:r>
                      <a:rPr lang="en-US" sz="1200" b="0" i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12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12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L" sz="1200" dirty="0">
                    <a:solidFill>
                      <a:srgbClr val="FFFFFF"/>
                    </a:solidFill>
                  </a:rPr>
                  <a:t>with respect for the exit optical axis</a:t>
                </a:r>
              </a:p>
              <a:p>
                <a:endParaRPr lang="en-IL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>
                    <a:solidFill>
                      <a:srgbClr val="FFFFFF"/>
                    </a:solidFill>
                  </a:rPr>
                  <a:t>For small incident angle the refraction angle </a:t>
                </a:r>
                <a:r>
                  <a:rPr lang="en-US" sz="1200" b="0" i="0">
                    <a:solidFill>
                      <a:srgbClr val="FFFF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𝛽</a:t>
                </a:r>
                <a:r>
                  <a:rPr lang="en-US" sz="1200" b="0" i="0">
                    <a:solidFill>
                      <a:srgbClr val="FFFFFF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IL" sz="1200" dirty="0">
                    <a:solidFill>
                      <a:srgbClr val="FFFFFF"/>
                    </a:solidFill>
                  </a:rPr>
                  <a:t>is also the incident angle when exiting the prism so regardless of </a:t>
                </a:r>
                <a:r>
                  <a:rPr lang="en-US" sz="1200" b="0" i="0">
                    <a:solidFill>
                      <a:srgbClr val="FFFFFF"/>
                    </a:solidFill>
                    <a:latin typeface="Cambria Math" panose="02040503050406030204" pitchFamily="18" charset="0"/>
                  </a:rPr>
                  <a:t>𝑛</a:t>
                </a:r>
                <a:r>
                  <a:rPr lang="en-IL" sz="1200" dirty="0">
                    <a:solidFill>
                      <a:srgbClr val="FFFFFF"/>
                    </a:solidFill>
                  </a:rPr>
                  <a:t> </a:t>
                </a:r>
                <a:br>
                  <a:rPr lang="en-IL" sz="1200" dirty="0">
                    <a:solidFill>
                      <a:srgbClr val="FFFFFF"/>
                    </a:solidFill>
                  </a:rPr>
                </a:br>
                <a:r>
                  <a:rPr lang="en-IL" sz="1200" dirty="0">
                    <a:solidFill>
                      <a:srgbClr val="FFFFFF"/>
                    </a:solidFill>
                  </a:rPr>
                  <a:t>( </a:t>
                </a:r>
                <a:r>
                  <a:rPr lang="en-US" sz="1200" b="0" i="0">
                    <a:solidFill>
                      <a:srgbClr val="FFFFFF"/>
                    </a:solidFill>
                    <a:latin typeface="Cambria Math" panose="02040503050406030204" pitchFamily="18" charset="0"/>
                  </a:rPr>
                  <a:t>𝑛&gt;1</a:t>
                </a:r>
                <a:r>
                  <a:rPr lang="en-IL" sz="1200" dirty="0">
                    <a:solidFill>
                      <a:srgbClr val="FFFFFF"/>
                    </a:solidFill>
                  </a:rPr>
                  <a:t>)  the refraction angle will be </a:t>
                </a:r>
                <a:r>
                  <a:rPr lang="en-US" sz="1200" i="0">
                    <a:solidFill>
                      <a:srgbClr val="FFFF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𝛼</a:t>
                </a:r>
                <a:r>
                  <a:rPr lang="en-US" sz="1200" i="0">
                    <a:solidFill>
                      <a:srgbClr val="FFFFFF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IL" sz="1200" dirty="0">
                    <a:solidFill>
                      <a:srgbClr val="FFFFFF"/>
                    </a:solidFill>
                  </a:rPr>
                  <a:t> with respect for the exit surface. </a:t>
                </a:r>
                <a:r>
                  <a:rPr lang="en-US" sz="1200" dirty="0">
                    <a:solidFill>
                      <a:srgbClr val="FFFFFF"/>
                    </a:solidFill>
                  </a:rPr>
                  <a:t>S</a:t>
                </a:r>
                <a:r>
                  <a:rPr lang="en-IL" sz="1200" dirty="0">
                    <a:solidFill>
                      <a:srgbClr val="FFFFFF"/>
                    </a:solidFill>
                  </a:rPr>
                  <a:t>o </a:t>
                </a:r>
                <a:r>
                  <a:rPr lang="en-US" sz="1200" b="0" i="0">
                    <a:solidFill>
                      <a:srgbClr val="FFFF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en-US" sz="1200" i="0">
                    <a:solidFill>
                      <a:srgbClr val="FFFF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𝛼</a:t>
                </a:r>
                <a:r>
                  <a:rPr lang="en-US" sz="1200" i="0">
                    <a:solidFill>
                      <a:srgbClr val="FFFFFF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IL" sz="1200" dirty="0">
                    <a:solidFill>
                      <a:srgbClr val="FFFFFF"/>
                    </a:solidFill>
                  </a:rPr>
                  <a:t>with respect for the exit optical axis</a:t>
                </a:r>
              </a:p>
              <a:p>
                <a:endParaRPr lang="en-IL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422AA5-A792-3B47-A9A8-AA8F5405EF62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56361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F98D-0FB6-384F-BE6A-09D561FB0FE7}" type="datetime1">
              <a:rPr lang="en-US" smtClean="0"/>
              <a:t>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0A03F-C845-1B44-AA94-681E5D2F0AC9}" type="datetime1">
              <a:rPr lang="en-US" smtClean="0"/>
              <a:t>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23DB0-5116-DE46-B666-227A1E6C3109}" type="datetime1">
              <a:rPr lang="en-US" smtClean="0"/>
              <a:t>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EFA41-69BC-4A4A-ABC7-AD7DE5DC1026}" type="datetime1">
              <a:rPr lang="en-US" smtClean="0"/>
              <a:t>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FEBAE-7E7D-9E43-AF85-3B10012F7A64}" type="datetime1">
              <a:rPr lang="en-US" smtClean="0"/>
              <a:t>2/23/2025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F08F-4681-8342-AA17-A442FF8C7F69}" type="datetime1">
              <a:rPr lang="en-US" smtClean="0"/>
              <a:t>2/23/2025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DF226-E2FF-8841-AA69-18F56E9BB004}" type="datetime1">
              <a:rPr lang="en-US" smtClean="0"/>
              <a:t>2/23/2025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C30F3-55BF-8645-9668-F95302E69865}" type="datetime1">
              <a:rPr lang="en-US" smtClean="0"/>
              <a:t>2/23/2025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B9BFD-FB63-2645-90AD-B7EF701C1276}" type="datetime1">
              <a:rPr lang="en-US" smtClean="0"/>
              <a:t>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09930-E1E1-2049-85E8-7254892E4B58}" type="datetime1">
              <a:rPr lang="en-US" smtClean="0"/>
              <a:t>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7ECFD-9A16-2241-B54E-D9143D0F7F40}" type="datetime1">
              <a:rPr lang="en-US" smtClean="0"/>
              <a:t>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3AC1-76BB-A24F-9F0E-B3ADCF3103F5}" type="datetime1">
              <a:rPr lang="en-US" smtClean="0"/>
              <a:t>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B5ECB-19C6-5A48-B3F6-8381D6623993}" type="datetime1">
              <a:rPr lang="en-US" smtClean="0"/>
              <a:t>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AF803-8688-DE44-BEA5-5BCC874778E5}" type="datetime1">
              <a:rPr lang="en-US" smtClean="0"/>
              <a:t>2/23/2025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BBB6E-F77F-DD4B-AB00-1ABF8A8BB060}" type="datetime1">
              <a:rPr lang="en-US" smtClean="0"/>
              <a:t>2/23/2025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4BD07-EBD2-BF45-94E0-E9C96AD4AA56}" type="datetime1">
              <a:rPr lang="en-US" smtClean="0"/>
              <a:t>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E0747-E323-3249-A6A7-7191ECF75162}" type="datetime1">
              <a:rPr lang="en-US" smtClean="0"/>
              <a:t>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4773ADC-27CA-4348-82BB-D86A6893B916}" type="datetime1">
              <a:rPr lang="en-US" smtClean="0"/>
              <a:t>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s://www.thorlabs.com/thorproduct.cfm?partnumber=PS608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A6213-EE50-66CB-51A2-AE5055265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</a:t>
            </a:r>
            <a:r>
              <a:rPr lang="en-IL" dirty="0"/>
              <a:t>inal project – Introduction to optical ingeenireing</a:t>
            </a:r>
            <a:r>
              <a:rPr lang="en-US" dirty="0"/>
              <a:t> (83922)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30639-0B37-6AFE-C12B-A50A0EB64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</a:t>
            </a:r>
            <a:r>
              <a:rPr lang="en-IL" dirty="0"/>
              <a:t>resenting:</a:t>
            </a:r>
          </a:p>
          <a:p>
            <a:pPr lvl="1"/>
            <a:r>
              <a:rPr lang="en-US" dirty="0"/>
              <a:t>Elisha Gur</a:t>
            </a:r>
          </a:p>
          <a:p>
            <a:pPr lvl="1"/>
            <a:r>
              <a:rPr lang="en-IL" dirty="0"/>
              <a:t>Assaf Shahino</a:t>
            </a:r>
            <a:endParaRPr lang="en-US" dirty="0"/>
          </a:p>
          <a:p>
            <a:pPr lvl="1"/>
            <a:endParaRPr lang="en-IL" dirty="0"/>
          </a:p>
          <a:p>
            <a:r>
              <a:rPr lang="en-US" dirty="0"/>
              <a:t>W</a:t>
            </a:r>
            <a:r>
              <a:rPr lang="en-IL" dirty="0"/>
              <a:t>ith collabaration of DSR lab</a:t>
            </a:r>
            <a:r>
              <a:rPr lang="en-US" dirty="0"/>
              <a:t> by Dr. </a:t>
            </a:r>
            <a:r>
              <a:rPr lang="en-US" dirty="0" err="1"/>
              <a:t>Igal</a:t>
            </a:r>
            <a:r>
              <a:rPr lang="en-US" dirty="0"/>
              <a:t> Levin</a:t>
            </a:r>
            <a:endParaRPr lang="en-IL" dirty="0"/>
          </a:p>
        </p:txBody>
      </p:sp>
      <p:pic>
        <p:nvPicPr>
          <p:cNvPr id="4" name="Picture 3" descr="A logo with a circle and a pink stripe&#10;&#10;AI-generated content may be incorrect.">
            <a:extLst>
              <a:ext uri="{FF2B5EF4-FFF2-40B4-BE49-F238E27FC236}">
                <a16:creationId xmlns:a16="http://schemas.microsoft.com/office/drawing/2014/main" id="{72DBAA24-1080-74D7-8185-0F5C2FD0A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8204" y="5854217"/>
            <a:ext cx="2538627" cy="78836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65CD00-D935-BC37-8726-EA39CA08D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</a:t>
            </a:fld>
            <a:endParaRPr lang="en-US" dirty="0"/>
          </a:p>
        </p:txBody>
      </p:sp>
      <p:pic>
        <p:nvPicPr>
          <p:cNvPr id="6" name="Content Placeholder 6" descr="A logo with text on it&#10;&#10;AI-generated content may be incorrect.">
            <a:extLst>
              <a:ext uri="{FF2B5EF4-FFF2-40B4-BE49-F238E27FC236}">
                <a16:creationId xmlns:a16="http://schemas.microsoft.com/office/drawing/2014/main" id="{5ABFA804-2C29-B28F-FDA3-A8CDEFFD9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6353" y="82639"/>
            <a:ext cx="610478" cy="1070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642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C6C92-AAAA-C50A-0828-004884110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defTabSz="457200" rtl="1" eaLnBrk="1" latinLnBrk="0" hangingPunct="1">
              <a:spcBef>
                <a:spcPct val="0"/>
              </a:spcBef>
              <a:buNone/>
            </a:pPr>
            <a:r>
              <a:rPr lang="en-US" dirty="0"/>
              <a:t>Agenda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9A769-947E-F46B-4895-1E222F72D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S</a:t>
            </a:r>
            <a:r>
              <a:rPr lang="en-IL" dirty="0"/>
              <a:t>ystem description</a:t>
            </a:r>
          </a:p>
          <a:p>
            <a:r>
              <a:rPr lang="en-US" dirty="0"/>
              <a:t>Main C</a:t>
            </a:r>
            <a:r>
              <a:rPr lang="en-IL" dirty="0"/>
              <a:t>hallenge</a:t>
            </a:r>
          </a:p>
          <a:p>
            <a:r>
              <a:rPr lang="en-US" dirty="0"/>
              <a:t>T</a:t>
            </a:r>
            <a:r>
              <a:rPr lang="en-IL" dirty="0"/>
              <a:t>heoretical Background and </a:t>
            </a:r>
            <a:r>
              <a:rPr lang="en-US" dirty="0"/>
              <a:t>calculations</a:t>
            </a:r>
          </a:p>
          <a:p>
            <a:r>
              <a:rPr lang="en-US" dirty="0"/>
              <a:t>Errors approximation and implications</a:t>
            </a:r>
          </a:p>
          <a:p>
            <a:r>
              <a:rPr lang="en-US" dirty="0"/>
              <a:t>calibration methods</a:t>
            </a:r>
          </a:p>
          <a:p>
            <a:r>
              <a:rPr lang="en-US" dirty="0"/>
              <a:t>code V</a:t>
            </a:r>
          </a:p>
          <a:p>
            <a:r>
              <a:rPr lang="en-US" dirty="0"/>
              <a:t>Conclusions</a:t>
            </a:r>
          </a:p>
          <a:p>
            <a:endParaRPr lang="en-US" dirty="0"/>
          </a:p>
          <a:p>
            <a:endParaRPr lang="en-US" dirty="0"/>
          </a:p>
          <a:p>
            <a:endParaRPr lang="en-IL" dirty="0"/>
          </a:p>
        </p:txBody>
      </p:sp>
      <p:pic>
        <p:nvPicPr>
          <p:cNvPr id="5" name="Picture 4" descr="A logo with a circle and a pink stripe&#10;&#10;AI-generated content may be incorrect.">
            <a:extLst>
              <a:ext uri="{FF2B5EF4-FFF2-40B4-BE49-F238E27FC236}">
                <a16:creationId xmlns:a16="http://schemas.microsoft.com/office/drawing/2014/main" id="{75F5004D-97DA-C3A3-C9DB-89C42FDCF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8204" y="5854217"/>
            <a:ext cx="2538627" cy="788363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F0D66-EF26-4FA2-C165-A4EB4E3D2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</a:t>
            </a:fld>
            <a:endParaRPr lang="en-US" dirty="0"/>
          </a:p>
        </p:txBody>
      </p:sp>
      <p:pic>
        <p:nvPicPr>
          <p:cNvPr id="8" name="Content Placeholder 6" descr="A logo with text on it&#10;&#10;AI-generated content may be incorrect.">
            <a:extLst>
              <a:ext uri="{FF2B5EF4-FFF2-40B4-BE49-F238E27FC236}">
                <a16:creationId xmlns:a16="http://schemas.microsoft.com/office/drawing/2014/main" id="{F8E3D0C8-DF87-1CE8-C9A8-67F0EA009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6353" y="82639"/>
            <a:ext cx="610478" cy="1070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247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A4D6B-ABB1-7C5E-E00F-72100D37D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165580" cy="1400530"/>
          </a:xfrm>
        </p:spPr>
        <p:txBody>
          <a:bodyPr>
            <a:normAutofit/>
          </a:bodyPr>
          <a:lstStyle/>
          <a:p>
            <a:r>
              <a:rPr lang="en-US"/>
              <a:t>Introduction</a:t>
            </a:r>
            <a:br>
              <a:rPr lang="en-US"/>
            </a:br>
            <a:endParaRPr lang="en-IL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7D9681AB-65CF-47E9-9FA3-7B05D6349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7191 h 6985200"/>
              <a:gd name="connsiteX6" fmla="*/ 1 w 6858001"/>
              <a:gd name="connsiteY6" fmla="*/ 887191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7191"/>
                </a:lnTo>
                <a:lnTo>
                  <a:pt x="1" y="887191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IL"/>
          </a:p>
        </p:txBody>
      </p:sp>
      <p:sp>
        <p:nvSpPr>
          <p:cNvPr id="28" name="Freeform 23">
            <a:extLst>
              <a:ext uri="{FF2B5EF4-FFF2-40B4-BE49-F238E27FC236}">
                <a16:creationId xmlns:a16="http://schemas.microsoft.com/office/drawing/2014/main" id="{8FCA736E-BDE3-4D4D-8D87-E9AE79250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logo with a circle and a pink stripe&#10;&#10;AI-generated content may be incorrect.">
            <a:extLst>
              <a:ext uri="{FF2B5EF4-FFF2-40B4-BE49-F238E27FC236}">
                <a16:creationId xmlns:a16="http://schemas.microsoft.com/office/drawing/2014/main" id="{46C6A0E0-612B-457B-77D6-8F98476501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10" y="877497"/>
            <a:ext cx="5449471" cy="1702959"/>
          </a:xfrm>
          <a:prstGeom prst="rect">
            <a:avLst/>
          </a:prstGeom>
          <a:effectLst/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129AA25D-1E7A-4074-BF68-D55A83B81B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622E3-852B-F5BA-3DA9-E6E148440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57F1E4F-1CFF-5643-939E-02111984F565}" type="slidenum">
              <a:rPr lang="en-US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B988D-6C42-57B3-8023-C47C31986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3" y="2052918"/>
            <a:ext cx="4165146" cy="4195481"/>
          </a:xfrm>
        </p:spPr>
        <p:txBody>
          <a:bodyPr>
            <a:normAutofit/>
          </a:bodyPr>
          <a:lstStyle/>
          <a:p>
            <a:r>
              <a:rPr lang="en-US" dirty="0"/>
              <a:t>T</a:t>
            </a:r>
            <a:r>
              <a:rPr lang="en-IL" dirty="0"/>
              <a:t>he the setup we work on is for measuring SPV </a:t>
            </a:r>
            <a:r>
              <a:rPr lang="en-US" dirty="0"/>
              <a:t>( surface photo-voltage)</a:t>
            </a:r>
          </a:p>
          <a:p>
            <a:r>
              <a:rPr lang="en-US" dirty="0"/>
              <a:t>We want to direct a laser beam on a </a:t>
            </a:r>
            <a:r>
              <a:rPr lang="en-US" i="1" dirty="0"/>
              <a:t>patterned material.</a:t>
            </a:r>
          </a:p>
          <a:p>
            <a:r>
              <a:rPr lang="en-US" dirty="0"/>
              <a:t>Using prims instead mirrors comes from the intensity of the laser beam</a:t>
            </a:r>
            <a:endParaRPr lang="en-IL" dirty="0"/>
          </a:p>
        </p:txBody>
      </p:sp>
      <p:pic>
        <p:nvPicPr>
          <p:cNvPr id="7" name="Picture 6" descr="A diagram of a photo-active layer&#10;&#10;AI-generated content may be incorrect.">
            <a:extLst>
              <a:ext uri="{FF2B5EF4-FFF2-40B4-BE49-F238E27FC236}">
                <a16:creationId xmlns:a16="http://schemas.microsoft.com/office/drawing/2014/main" id="{0E993A6E-456A-EAEE-1F6D-D93E8C6681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2822" y="3317358"/>
            <a:ext cx="6605764" cy="3104707"/>
          </a:xfrm>
          <a:prstGeom prst="rect">
            <a:avLst/>
          </a:prstGeom>
          <a:effectLst/>
        </p:spPr>
      </p:pic>
      <p:pic>
        <p:nvPicPr>
          <p:cNvPr id="8" name="Content Placeholder 6" descr="A logo with text on it&#10;&#10;AI-generated content may be incorrect.">
            <a:extLst>
              <a:ext uri="{FF2B5EF4-FFF2-40B4-BE49-F238E27FC236}">
                <a16:creationId xmlns:a16="http://schemas.microsoft.com/office/drawing/2014/main" id="{4CFF3E57-4AF9-A22E-B131-01B459C4F9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56353" y="82639"/>
            <a:ext cx="610478" cy="1070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549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5F3FC718-FDE3-4EF7-921E-A5F374EAF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C30B66-24FB-A37C-6273-A8704B3AE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342" y="341040"/>
            <a:ext cx="3108626" cy="144475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dirty="0">
                <a:solidFill>
                  <a:srgbClr val="EBEBEB"/>
                </a:solidFill>
              </a:rPr>
              <a:t>S</a:t>
            </a:r>
            <a:r>
              <a:rPr lang="en-IL" sz="3200" dirty="0">
                <a:solidFill>
                  <a:srgbClr val="EBEBEB"/>
                </a:solidFill>
              </a:rPr>
              <a:t>ystem description</a:t>
            </a:r>
            <a:br>
              <a:rPr lang="en-IL" sz="3200" dirty="0">
                <a:solidFill>
                  <a:srgbClr val="EBEBEB"/>
                </a:solidFill>
              </a:rPr>
            </a:br>
            <a:endParaRPr lang="en-IL" sz="3200" dirty="0">
              <a:solidFill>
                <a:srgbClr val="EBEBEB"/>
              </a:solidFill>
            </a:endParaRPr>
          </a:p>
        </p:txBody>
      </p:sp>
      <p:sp>
        <p:nvSpPr>
          <p:cNvPr id="34" name="Freeform 11">
            <a:extLst>
              <a:ext uri="{FF2B5EF4-FFF2-40B4-BE49-F238E27FC236}">
                <a16:creationId xmlns:a16="http://schemas.microsoft.com/office/drawing/2014/main" id="{FAA0F719-3DC8-4F08-AD8F-5A845658C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6" name="Freeform: Shape 35">
            <a:extLst>
              <a:ext uri="{FF2B5EF4-FFF2-40B4-BE49-F238E27FC236}">
                <a16:creationId xmlns:a16="http://schemas.microsoft.com/office/drawing/2014/main" id="{7DCB61BE-FA0F-4EFB-BE0E-268BAD8E3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4747655" y="-586345"/>
            <a:ext cx="6858001" cy="8030691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IL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4B31EAA-7423-46F7-9B90-4AB2B09C3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5D54E7-0A9F-53C5-302C-493A473ED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57F1E4F-1CFF-5643-939E-02111984F565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AEE46-A440-38D8-7342-3278DD9AA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027" y="1509398"/>
            <a:ext cx="3108057" cy="3923839"/>
          </a:xfrm>
        </p:spPr>
        <p:txBody>
          <a:bodyPr>
            <a:normAutofit fontScale="92500" lnSpcReduction="10000"/>
          </a:bodyPr>
          <a:lstStyle/>
          <a:p>
            <a:r>
              <a:rPr lang="en-IL" sz="1400" dirty="0">
                <a:solidFill>
                  <a:srgbClr val="FFFFFF"/>
                </a:solidFill>
              </a:rPr>
              <a:t>wavelength specturm:</a:t>
            </a:r>
            <a:br>
              <a:rPr lang="en-IL" sz="1400" dirty="0">
                <a:solidFill>
                  <a:srgbClr val="FFFFFF"/>
                </a:solidFill>
              </a:rPr>
            </a:br>
            <a:r>
              <a:rPr lang="en-IL" sz="1400" dirty="0">
                <a:solidFill>
                  <a:srgbClr val="FFFFFF"/>
                </a:solidFill>
              </a:rPr>
              <a:t>192 – 2600 [nm]</a:t>
            </a:r>
          </a:p>
          <a:p>
            <a:r>
              <a:rPr lang="en-US" sz="1400" dirty="0">
                <a:solidFill>
                  <a:srgbClr val="FFFFFF"/>
                </a:solidFill>
              </a:rPr>
              <a:t>I</a:t>
            </a:r>
            <a:r>
              <a:rPr lang="en-IL" sz="1400" dirty="0">
                <a:solidFill>
                  <a:srgbClr val="FFFFFF"/>
                </a:solidFill>
              </a:rPr>
              <a:t>nitial beam diameter:</a:t>
            </a:r>
            <a:br>
              <a:rPr lang="en-IL" sz="1400" dirty="0">
                <a:solidFill>
                  <a:srgbClr val="FFFFFF"/>
                </a:solidFill>
              </a:rPr>
            </a:br>
            <a:r>
              <a:rPr lang="en-IL" sz="1400" dirty="0">
                <a:solidFill>
                  <a:srgbClr val="FFFFFF"/>
                </a:solidFill>
              </a:rPr>
              <a:t>5 [mm]</a:t>
            </a:r>
            <a:r>
              <a:rPr lang="en-US" sz="1400" dirty="0">
                <a:solidFill>
                  <a:srgbClr val="FFFFFF"/>
                </a:solidFill>
              </a:rPr>
              <a:t> </a:t>
            </a:r>
          </a:p>
          <a:p>
            <a:r>
              <a:rPr lang="en-US" sz="1400" dirty="0">
                <a:solidFill>
                  <a:srgbClr val="FFFFFF"/>
                </a:solidFill>
              </a:rPr>
              <a:t>T</a:t>
            </a:r>
            <a:r>
              <a:rPr lang="en-IL" sz="1400" dirty="0">
                <a:solidFill>
                  <a:srgbClr val="FFFFFF"/>
                </a:solidFill>
              </a:rPr>
              <a:t>ypical divergence angle:	</a:t>
            </a:r>
            <a:br>
              <a:rPr lang="en-IL" sz="1400" dirty="0">
                <a:solidFill>
                  <a:srgbClr val="FFFFFF"/>
                </a:solidFill>
              </a:rPr>
            </a:br>
            <a:r>
              <a:rPr lang="en-IL" sz="1400" dirty="0">
                <a:solidFill>
                  <a:srgbClr val="FFFFFF"/>
                </a:solidFill>
              </a:rPr>
              <a:t>&lt; 2 [mrad]</a:t>
            </a:r>
          </a:p>
          <a:p>
            <a:endParaRPr lang="en-IL" sz="1400" dirty="0">
              <a:solidFill>
                <a:srgbClr val="FFFFFF"/>
              </a:solidFill>
            </a:endParaRPr>
          </a:p>
          <a:p>
            <a:r>
              <a:rPr lang="en-US" sz="1400" dirty="0">
                <a:solidFill>
                  <a:srgbClr val="FFFFFF"/>
                </a:solidFill>
              </a:rPr>
              <a:t>T</a:t>
            </a:r>
            <a:r>
              <a:rPr lang="en-IL" sz="1400" dirty="0">
                <a:solidFill>
                  <a:srgbClr val="FFFFFF"/>
                </a:solidFill>
              </a:rPr>
              <a:t>otal path length:</a:t>
            </a:r>
            <a:br>
              <a:rPr lang="en-IL" sz="1400" dirty="0">
                <a:solidFill>
                  <a:srgbClr val="FFFFFF"/>
                </a:solidFill>
              </a:rPr>
            </a:br>
            <a:r>
              <a:rPr lang="en-IL" sz="1400" dirty="0">
                <a:solidFill>
                  <a:srgbClr val="FFFFFF"/>
                </a:solidFill>
              </a:rPr>
              <a:t>4370 ± 100 mm</a:t>
            </a:r>
          </a:p>
          <a:p>
            <a:r>
              <a:rPr lang="en-US" sz="1400" dirty="0">
                <a:solidFill>
                  <a:srgbClr val="FFFFFF"/>
                </a:solidFill>
              </a:rPr>
              <a:t>M</a:t>
            </a:r>
            <a:r>
              <a:rPr lang="en-IL" sz="1400" dirty="0">
                <a:solidFill>
                  <a:srgbClr val="FFFFFF"/>
                </a:solidFill>
              </a:rPr>
              <a:t>ax beam diameter at image surface:</a:t>
            </a:r>
            <a:br>
              <a:rPr lang="en-IL" sz="1400" dirty="0">
                <a:solidFill>
                  <a:srgbClr val="FFFFFF"/>
                </a:solidFill>
              </a:rPr>
            </a:br>
            <a:r>
              <a:rPr lang="en-IL" sz="1400" dirty="0">
                <a:solidFill>
                  <a:srgbClr val="FFFFFF"/>
                </a:solidFill>
              </a:rPr>
              <a:t>20 mm</a:t>
            </a:r>
          </a:p>
          <a:p>
            <a:r>
              <a:rPr lang="en-US" sz="1400" dirty="0">
                <a:solidFill>
                  <a:srgbClr val="FFFFFF"/>
                </a:solidFill>
              </a:rPr>
              <a:t>P</a:t>
            </a:r>
            <a:r>
              <a:rPr lang="en-IL" sz="1400" dirty="0">
                <a:solidFill>
                  <a:srgbClr val="FFFFFF"/>
                </a:solidFill>
              </a:rPr>
              <a:t>rism type:</a:t>
            </a:r>
            <a:br>
              <a:rPr lang="en-IL" sz="1400" dirty="0">
                <a:solidFill>
                  <a:srgbClr val="FFFFFF"/>
                </a:solidFill>
              </a:rPr>
            </a:br>
            <a:r>
              <a:rPr lang="en-IL" sz="1400" dirty="0">
                <a:solidFill>
                  <a:srgbClr val="FFFFFF"/>
                </a:solidFill>
              </a:rPr>
              <a:t>UV fused Silica right angle prism</a:t>
            </a:r>
            <a:br>
              <a:rPr lang="en-IL" sz="1400" dirty="0">
                <a:solidFill>
                  <a:srgbClr val="FFFFFF"/>
                </a:solidFill>
              </a:rPr>
            </a:br>
            <a:r>
              <a:rPr lang="en-IL" sz="1400" dirty="0">
                <a:solidFill>
                  <a:srgbClr val="FFFFFF"/>
                </a:solidFill>
              </a:rPr>
              <a:t>L = 20</a:t>
            </a:r>
            <a:br>
              <a:rPr lang="en-IL" sz="1400" dirty="0">
                <a:solidFill>
                  <a:srgbClr val="FFFFFF"/>
                </a:solidFill>
              </a:rPr>
            </a:br>
            <a:r>
              <a:rPr lang="en-IL" sz="1400" dirty="0">
                <a:solidFill>
                  <a:srgbClr val="FFFFFF"/>
                </a:solidFill>
                <a:hlinkClick r:id="rId2"/>
              </a:rPr>
              <a:t>Thorlab</a:t>
            </a:r>
            <a:endParaRPr lang="en-IL" sz="1400" dirty="0">
              <a:solidFill>
                <a:srgbClr val="FFFFFF"/>
              </a:solidFill>
            </a:endParaRPr>
          </a:p>
          <a:p>
            <a:endParaRPr lang="en-IL" sz="1400" dirty="0">
              <a:solidFill>
                <a:srgbClr val="FFFFFF"/>
              </a:solidFill>
            </a:endParaRPr>
          </a:p>
        </p:txBody>
      </p:sp>
      <p:pic>
        <p:nvPicPr>
          <p:cNvPr id="7" name="Picture 6" descr="A diagram of a graph&#10;&#10;AI-generated content may be incorrect.">
            <a:extLst>
              <a:ext uri="{FF2B5EF4-FFF2-40B4-BE49-F238E27FC236}">
                <a16:creationId xmlns:a16="http://schemas.microsoft.com/office/drawing/2014/main" id="{DD2315BD-F786-DB0C-79C7-9DF738C94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451" y="2280354"/>
            <a:ext cx="6495847" cy="2906891"/>
          </a:xfrm>
          <a:prstGeom prst="rect">
            <a:avLst/>
          </a:prstGeom>
          <a:effectLst/>
        </p:spPr>
      </p:pic>
      <p:pic>
        <p:nvPicPr>
          <p:cNvPr id="4" name="Picture 3" descr="A logo with a circle and a pink stripe&#10;&#10;AI-generated content may be incorrect.">
            <a:extLst>
              <a:ext uri="{FF2B5EF4-FFF2-40B4-BE49-F238E27FC236}">
                <a16:creationId xmlns:a16="http://schemas.microsoft.com/office/drawing/2014/main" id="{206FCD98-0959-3979-D88D-EDCE7139B7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25" y="6125769"/>
            <a:ext cx="2062716" cy="644599"/>
          </a:xfrm>
          <a:prstGeom prst="rect">
            <a:avLst/>
          </a:prstGeom>
          <a:effectLst/>
        </p:spPr>
      </p:pic>
      <p:pic>
        <p:nvPicPr>
          <p:cNvPr id="10" name="Content Placeholder 6" descr="A logo with text on it&#10;&#10;AI-generated content may be incorrect.">
            <a:extLst>
              <a:ext uri="{FF2B5EF4-FFF2-40B4-BE49-F238E27FC236}">
                <a16:creationId xmlns:a16="http://schemas.microsoft.com/office/drawing/2014/main" id="{1F7ED382-D207-F0C8-7CC2-DBDBFE19A9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56353" y="82639"/>
            <a:ext cx="610478" cy="1070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8753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1515115-95FB-41E0-86F3-8744438C0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538E10-BC44-8471-323C-E743E6510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5616217" cy="162232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</a:rPr>
              <a:t>Main C</a:t>
            </a:r>
            <a:r>
              <a:rPr lang="en-IL" dirty="0">
                <a:solidFill>
                  <a:srgbClr val="EBEBEB"/>
                </a:solidFill>
              </a:rPr>
              <a:t>hallenge</a:t>
            </a:r>
            <a:br>
              <a:rPr lang="en-IL" dirty="0">
                <a:solidFill>
                  <a:srgbClr val="EBEBEB"/>
                </a:solidFill>
              </a:rPr>
            </a:br>
            <a:endParaRPr lang="en-IL" dirty="0">
              <a:solidFill>
                <a:srgbClr val="EBEBEB"/>
              </a:solidFill>
            </a:endParaRPr>
          </a:p>
        </p:txBody>
      </p:sp>
      <p:sp>
        <p:nvSpPr>
          <p:cNvPr id="21" name="Freeform 31">
            <a:extLst>
              <a:ext uri="{FF2B5EF4-FFF2-40B4-BE49-F238E27FC236}">
                <a16:creationId xmlns:a16="http://schemas.microsoft.com/office/drawing/2014/main" id="{8222A33F-BE2D-4D69-92A0-5DF8B17BA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49843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 useBgFill="1">
        <p:nvSpPr>
          <p:cNvPr id="22" name="Freeform: Shape 15">
            <a:extLst>
              <a:ext uri="{FF2B5EF4-FFF2-40B4-BE49-F238E27FC236}">
                <a16:creationId xmlns:a16="http://schemas.microsoft.com/office/drawing/2014/main" id="{CE1C74D0-9609-468A-9597-5D87C8A42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998731" y="664312"/>
            <a:ext cx="6858001" cy="5529377"/>
          </a:xfrm>
          <a:custGeom>
            <a:avLst/>
            <a:gdLst>
              <a:gd name="connsiteX0" fmla="*/ 6858001 w 6858001"/>
              <a:gd name="connsiteY0" fmla="*/ 1177 h 5529377"/>
              <a:gd name="connsiteX1" fmla="*/ 6858001 w 6858001"/>
              <a:gd name="connsiteY1" fmla="*/ 1344715 h 5529377"/>
              <a:gd name="connsiteX2" fmla="*/ 6858000 w 6858001"/>
              <a:gd name="connsiteY2" fmla="*/ 1344715 h 5529377"/>
              <a:gd name="connsiteX3" fmla="*/ 6858000 w 6858001"/>
              <a:gd name="connsiteY3" fmla="*/ 5529377 h 5529377"/>
              <a:gd name="connsiteX4" fmla="*/ 0 w 6858001"/>
              <a:gd name="connsiteY4" fmla="*/ 5529376 h 5529377"/>
              <a:gd name="connsiteX5" fmla="*/ 0 w 6858001"/>
              <a:gd name="connsiteY5" fmla="*/ 891096 h 5529377"/>
              <a:gd name="connsiteX6" fmla="*/ 1 w 6858001"/>
              <a:gd name="connsiteY6" fmla="*/ 891096 h 5529377"/>
              <a:gd name="connsiteX7" fmla="*/ 1 w 6858001"/>
              <a:gd name="connsiteY7" fmla="*/ 0 h 5529377"/>
              <a:gd name="connsiteX8" fmla="*/ 40463 w 6858001"/>
              <a:gd name="connsiteY8" fmla="*/ 5883 h 5529377"/>
              <a:gd name="connsiteX9" fmla="*/ 159107 w 6858001"/>
              <a:gd name="connsiteY9" fmla="*/ 23196 h 5529377"/>
              <a:gd name="connsiteX10" fmla="*/ 245518 w 6858001"/>
              <a:gd name="connsiteY10" fmla="*/ 35299 h 5529377"/>
              <a:gd name="connsiteX11" fmla="*/ 348388 w 6858001"/>
              <a:gd name="connsiteY11" fmla="*/ 48073 h 5529377"/>
              <a:gd name="connsiteX12" fmla="*/ 470460 w 6858001"/>
              <a:gd name="connsiteY12" fmla="*/ 63369 h 5529377"/>
              <a:gd name="connsiteX13" fmla="*/ 605563 w 6858001"/>
              <a:gd name="connsiteY13" fmla="*/ 79506 h 5529377"/>
              <a:gd name="connsiteX14" fmla="*/ 757810 w 6858001"/>
              <a:gd name="connsiteY14" fmla="*/ 96483 h 5529377"/>
              <a:gd name="connsiteX15" fmla="*/ 923774 w 6858001"/>
              <a:gd name="connsiteY15" fmla="*/ 114469 h 5529377"/>
              <a:gd name="connsiteX16" fmla="*/ 1104139 w 6858001"/>
              <a:gd name="connsiteY16" fmla="*/ 132454 h 5529377"/>
              <a:gd name="connsiteX17" fmla="*/ 1296163 w 6858001"/>
              <a:gd name="connsiteY17" fmla="*/ 150776 h 5529377"/>
              <a:gd name="connsiteX18" fmla="*/ 1503275 w 6858001"/>
              <a:gd name="connsiteY18" fmla="*/ 167753 h 5529377"/>
              <a:gd name="connsiteX19" fmla="*/ 1719988 w 6858001"/>
              <a:gd name="connsiteY19" fmla="*/ 184058 h 5529377"/>
              <a:gd name="connsiteX20" fmla="*/ 1949045 w 6858001"/>
              <a:gd name="connsiteY20" fmla="*/ 198849 h 5529377"/>
              <a:gd name="connsiteX21" fmla="*/ 2187703 w 6858001"/>
              <a:gd name="connsiteY21" fmla="*/ 212969 h 5529377"/>
              <a:gd name="connsiteX22" fmla="*/ 2436649 w 6858001"/>
              <a:gd name="connsiteY22" fmla="*/ 226248 h 5529377"/>
              <a:gd name="connsiteX23" fmla="*/ 2564208 w 6858001"/>
              <a:gd name="connsiteY23" fmla="*/ 230955 h 5529377"/>
              <a:gd name="connsiteX24" fmla="*/ 2694509 w 6858001"/>
              <a:gd name="connsiteY24" fmla="*/ 236165 h 5529377"/>
              <a:gd name="connsiteX25" fmla="*/ 2826868 w 6858001"/>
              <a:gd name="connsiteY25" fmla="*/ 241040 h 5529377"/>
              <a:gd name="connsiteX26" fmla="*/ 2959914 w 6858001"/>
              <a:gd name="connsiteY26" fmla="*/ 244234 h 5529377"/>
              <a:gd name="connsiteX27" fmla="*/ 3095702 w 6858001"/>
              <a:gd name="connsiteY27" fmla="*/ 247091 h 5529377"/>
              <a:gd name="connsiteX28" fmla="*/ 3232862 w 6858001"/>
              <a:gd name="connsiteY28" fmla="*/ 250117 h 5529377"/>
              <a:gd name="connsiteX29" fmla="*/ 3372765 w 6858001"/>
              <a:gd name="connsiteY29" fmla="*/ 252134 h 5529377"/>
              <a:gd name="connsiteX30" fmla="*/ 3514040 w 6858001"/>
              <a:gd name="connsiteY30" fmla="*/ 252134 h 5529377"/>
              <a:gd name="connsiteX31" fmla="*/ 3656686 w 6858001"/>
              <a:gd name="connsiteY31" fmla="*/ 253142 h 5529377"/>
              <a:gd name="connsiteX32" fmla="*/ 3800704 w 6858001"/>
              <a:gd name="connsiteY32" fmla="*/ 252134 h 5529377"/>
              <a:gd name="connsiteX33" fmla="*/ 3946780 w 6858001"/>
              <a:gd name="connsiteY33" fmla="*/ 250117 h 5529377"/>
              <a:gd name="connsiteX34" fmla="*/ 4092855 w 6858001"/>
              <a:gd name="connsiteY34" fmla="*/ 248268 h 5529377"/>
              <a:gd name="connsiteX35" fmla="*/ 4240988 w 6858001"/>
              <a:gd name="connsiteY35" fmla="*/ 244234 h 5529377"/>
              <a:gd name="connsiteX36" fmla="*/ 4390492 w 6858001"/>
              <a:gd name="connsiteY36" fmla="*/ 240032 h 5529377"/>
              <a:gd name="connsiteX37" fmla="*/ 4539997 w 6858001"/>
              <a:gd name="connsiteY37" fmla="*/ 235157 h 5529377"/>
              <a:gd name="connsiteX38" fmla="*/ 4690873 w 6858001"/>
              <a:gd name="connsiteY38" fmla="*/ 228266 h 5529377"/>
              <a:gd name="connsiteX39" fmla="*/ 4843120 w 6858001"/>
              <a:gd name="connsiteY39" fmla="*/ 220029 h 5529377"/>
              <a:gd name="connsiteX40" fmla="*/ 4996054 w 6858001"/>
              <a:gd name="connsiteY40" fmla="*/ 212129 h 5529377"/>
              <a:gd name="connsiteX41" fmla="*/ 5148987 w 6858001"/>
              <a:gd name="connsiteY41" fmla="*/ 202044 h 5529377"/>
              <a:gd name="connsiteX42" fmla="*/ 5303978 w 6858001"/>
              <a:gd name="connsiteY42" fmla="*/ 189941 h 5529377"/>
              <a:gd name="connsiteX43" fmla="*/ 5456911 w 6858001"/>
              <a:gd name="connsiteY43" fmla="*/ 177839 h 5529377"/>
              <a:gd name="connsiteX44" fmla="*/ 5612588 w 6858001"/>
              <a:gd name="connsiteY44" fmla="*/ 163887 h 5529377"/>
              <a:gd name="connsiteX45" fmla="*/ 5768950 w 6858001"/>
              <a:gd name="connsiteY45" fmla="*/ 148591 h 5529377"/>
              <a:gd name="connsiteX46" fmla="*/ 5923255 w 6858001"/>
              <a:gd name="connsiteY46" fmla="*/ 132455 h 5529377"/>
              <a:gd name="connsiteX47" fmla="*/ 6079618 w 6858001"/>
              <a:gd name="connsiteY47" fmla="*/ 113629 h 5529377"/>
              <a:gd name="connsiteX48" fmla="*/ 6235294 w 6858001"/>
              <a:gd name="connsiteY48" fmla="*/ 93458 h 5529377"/>
              <a:gd name="connsiteX49" fmla="*/ 6391657 w 6858001"/>
              <a:gd name="connsiteY49" fmla="*/ 73455 h 5529377"/>
              <a:gd name="connsiteX50" fmla="*/ 6547333 w 6858001"/>
              <a:gd name="connsiteY50" fmla="*/ 50091 h 5529377"/>
              <a:gd name="connsiteX51" fmla="*/ 6702324 w 6858001"/>
              <a:gd name="connsiteY51" fmla="*/ 26222 h 5529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5529377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5529377"/>
                </a:lnTo>
                <a:lnTo>
                  <a:pt x="0" y="5529376"/>
                </a:lnTo>
                <a:lnTo>
                  <a:pt x="0" y="891096"/>
                </a:lnTo>
                <a:lnTo>
                  <a:pt x="1" y="891096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8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5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4" y="252134"/>
                </a:lnTo>
                <a:lnTo>
                  <a:pt x="3946780" y="250117"/>
                </a:lnTo>
                <a:lnTo>
                  <a:pt x="4092855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I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37128D-E594-4905-9F76-E385F0831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D69EA8-8E68-F317-DAB0-605741C43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57F1E4F-1CFF-5643-939E-02111984F565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7" name="Content Placeholder 6" descr="A logo with text on it&#10;&#10;AI-generated content may be incorrect.">
            <a:extLst>
              <a:ext uri="{FF2B5EF4-FFF2-40B4-BE49-F238E27FC236}">
                <a16:creationId xmlns:a16="http://schemas.microsoft.com/office/drawing/2014/main" id="{BD2953C8-771C-CB84-11DE-A19FCBC2FF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56353" y="82639"/>
            <a:ext cx="610478" cy="1070344"/>
          </a:xfr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9D514F2-5255-48C9-00C4-9E6FBF55F7D1}"/>
              </a:ext>
            </a:extLst>
          </p:cNvPr>
          <p:cNvSpPr txBox="1">
            <a:spLocks/>
          </p:cNvSpPr>
          <p:nvPr/>
        </p:nvSpPr>
        <p:spPr>
          <a:xfrm>
            <a:off x="617033" y="2251587"/>
            <a:ext cx="5002578" cy="4540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sz="1400" dirty="0">
                <a:solidFill>
                  <a:srgbClr val="FFFFFF"/>
                </a:solidFill>
              </a:rPr>
              <a:t>Large chromatic aberrations – working with refractive optics at B</a:t>
            </a:r>
            <a:r>
              <a:rPr lang="en-IL" sz="1400" dirty="0">
                <a:solidFill>
                  <a:srgbClr val="FFFFFF"/>
                </a:solidFill>
              </a:rPr>
              <a:t>road wavelength spectrum</a:t>
            </a:r>
          </a:p>
          <a:p>
            <a:r>
              <a:rPr lang="en-US" sz="1400" dirty="0">
                <a:solidFill>
                  <a:srgbClr val="FFFFFF"/>
                </a:solidFill>
              </a:rPr>
              <a:t>L</a:t>
            </a:r>
            <a:r>
              <a:rPr lang="en-IL" sz="1400" dirty="0">
                <a:solidFill>
                  <a:srgbClr val="FFFFFF"/>
                </a:solidFill>
              </a:rPr>
              <a:t>ong optical path </a:t>
            </a:r>
            <a:r>
              <a:rPr lang="en-US" sz="1400" dirty="0">
                <a:solidFill>
                  <a:srgbClr val="FFFFFF"/>
                </a:solidFill>
              </a:rPr>
              <a:t>- high</a:t>
            </a:r>
            <a:r>
              <a:rPr lang="en-IL" sz="1400" dirty="0">
                <a:solidFill>
                  <a:srgbClr val="FFFFFF"/>
                </a:solidFill>
              </a:rPr>
              <a:t> angle </a:t>
            </a:r>
            <a:r>
              <a:rPr lang="en-US" sz="1400" dirty="0">
                <a:solidFill>
                  <a:srgbClr val="FFFFFF"/>
                </a:solidFill>
              </a:rPr>
              <a:t>sensitivity</a:t>
            </a:r>
            <a:endParaRPr lang="en-IL" sz="1400" dirty="0">
              <a:solidFill>
                <a:srgbClr val="FFFFFF"/>
              </a:solidFill>
            </a:endParaRPr>
          </a:p>
          <a:p>
            <a:endParaRPr lang="en-IL" sz="14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IL" sz="1400" dirty="0">
              <a:solidFill>
                <a:srgbClr val="FFFFFF"/>
              </a:solidFill>
            </a:endParaRPr>
          </a:p>
        </p:txBody>
      </p:sp>
      <p:pic>
        <p:nvPicPr>
          <p:cNvPr id="15" name="Picture 14" descr="A logo with a circle and a pink stripe&#10;&#10;AI-generated content may be incorrect.">
            <a:extLst>
              <a:ext uri="{FF2B5EF4-FFF2-40B4-BE49-F238E27FC236}">
                <a16:creationId xmlns:a16="http://schemas.microsoft.com/office/drawing/2014/main" id="{D4D66E0C-C08D-C307-AAAE-483BA96CB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25" y="6125769"/>
            <a:ext cx="2062716" cy="644599"/>
          </a:xfrm>
          <a:prstGeom prst="rect">
            <a:avLst/>
          </a:prstGeom>
          <a:effectLst/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3EE9526-FACF-1BD6-460E-C96C3C8FECD4}"/>
              </a:ext>
            </a:extLst>
          </p:cNvPr>
          <p:cNvSpPr txBox="1"/>
          <p:nvPr/>
        </p:nvSpPr>
        <p:spPr>
          <a:xfrm>
            <a:off x="8296505" y="2991211"/>
            <a:ext cx="3278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  <a:r>
              <a:rPr lang="en-IL" dirty="0"/>
              <a:t>mage of the labs distances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3625965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F3FC718-FDE3-4EF7-921E-A5F374EAF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16BAF2-5580-37E0-CB94-0D5AA7378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742" y="466607"/>
            <a:ext cx="3108626" cy="144475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dirty="0">
                <a:solidFill>
                  <a:srgbClr val="EBEBEB"/>
                </a:solidFill>
              </a:rPr>
              <a:t>T</a:t>
            </a:r>
            <a:r>
              <a:rPr lang="en-IL" sz="2200" dirty="0">
                <a:solidFill>
                  <a:srgbClr val="EBEBEB"/>
                </a:solidFill>
              </a:rPr>
              <a:t>heoretical Background and </a:t>
            </a:r>
            <a:r>
              <a:rPr lang="en-US" sz="2200" dirty="0">
                <a:solidFill>
                  <a:srgbClr val="EBEBEB"/>
                </a:solidFill>
              </a:rPr>
              <a:t>calculations</a:t>
            </a:r>
            <a:br>
              <a:rPr lang="en-US" sz="2200" dirty="0">
                <a:solidFill>
                  <a:srgbClr val="EBEBEB"/>
                </a:solidFill>
              </a:rPr>
            </a:br>
            <a:endParaRPr lang="en-IL" sz="2200" dirty="0">
              <a:solidFill>
                <a:srgbClr val="EBEBEB"/>
              </a:solidFill>
            </a:endParaRPr>
          </a:p>
        </p:txBody>
      </p:sp>
      <p:sp>
        <p:nvSpPr>
          <p:cNvPr id="26" name="Freeform 11">
            <a:extLst>
              <a:ext uri="{FF2B5EF4-FFF2-40B4-BE49-F238E27FC236}">
                <a16:creationId xmlns:a16="http://schemas.microsoft.com/office/drawing/2014/main" id="{FAA0F719-3DC8-4F08-AD8F-5A845658C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Freeform: Shape 27">
            <a:extLst>
              <a:ext uri="{FF2B5EF4-FFF2-40B4-BE49-F238E27FC236}">
                <a16:creationId xmlns:a16="http://schemas.microsoft.com/office/drawing/2014/main" id="{7DCB61BE-FA0F-4EFB-BE0E-268BAD8E3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4747655" y="-586345"/>
            <a:ext cx="6858001" cy="8030691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IL"/>
          </a:p>
        </p:txBody>
      </p:sp>
      <p:pic>
        <p:nvPicPr>
          <p:cNvPr id="13" name="Content Placeholder 12" descr="A diagram of lines and triangles&#10;&#10;AI-generated content may be incorrect.">
            <a:extLst>
              <a:ext uri="{FF2B5EF4-FFF2-40B4-BE49-F238E27FC236}">
                <a16:creationId xmlns:a16="http://schemas.microsoft.com/office/drawing/2014/main" id="{58E38D61-8EDB-AEAC-1DB4-198431D8D3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931"/>
          <a:stretch/>
        </p:blipFill>
        <p:spPr>
          <a:xfrm>
            <a:off x="4507582" y="1220845"/>
            <a:ext cx="7585134" cy="5479726"/>
          </a:xfr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A4B31EAA-7423-46F7-9B90-4AB2B09C3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35BAE-4661-3127-AE42-30132A548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57F1E4F-1CFF-5643-939E-02111984F565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6" name="Content Placeholder 6" descr="A logo with text on it&#10;&#10;AI-generated content may be incorrect.">
            <a:extLst>
              <a:ext uri="{FF2B5EF4-FFF2-40B4-BE49-F238E27FC236}">
                <a16:creationId xmlns:a16="http://schemas.microsoft.com/office/drawing/2014/main" id="{C99ADF2D-5DAE-8D7B-64C2-691A82B759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7664" y="118639"/>
            <a:ext cx="610478" cy="10703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87CB7DEF-97AA-9882-A245-99FFE9A9D06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3855" y="1911359"/>
                <a:ext cx="3034766" cy="393239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20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8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6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5pPr>
                <a:lvl6pPr marL="2506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9pPr>
              </a:lstStyle>
              <a:p>
                <a:r>
                  <a:rPr lang="en-US" sz="1400" dirty="0">
                    <a:solidFill>
                      <a:srgbClr val="FFFFFF"/>
                    </a:solidFill>
                  </a:rPr>
                  <a:t>Prism is replacing mirrors for 90 deg rotation by TIR (total internal reflection) of the reflecting face.</a:t>
                </a:r>
              </a:p>
              <a:p>
                <a:r>
                  <a:rPr lang="en-US" sz="1400" dirty="0">
                    <a:solidFill>
                      <a:srgbClr val="FFFFFF"/>
                    </a:solidFill>
                  </a:rPr>
                  <a:t>For tilt of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14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rgbClr val="FFFFFF"/>
                    </a:solidFill>
                  </a:rPr>
                  <a:t>of the prism from the entrance optical axis</a:t>
                </a:r>
                <a:br>
                  <a:rPr lang="en-US" sz="1400" dirty="0">
                    <a:solidFill>
                      <a:srgbClr val="FFFFFF"/>
                    </a:solidFill>
                  </a:rPr>
                </a:br>
                <a:r>
                  <a:rPr lang="en-US" sz="1400" dirty="0">
                    <a:solidFill>
                      <a:srgbClr val="FFFFFF"/>
                    </a:solidFill>
                  </a:rPr>
                  <a:t>we get </a:t>
                </a:r>
                <a14:m>
                  <m:oMath xmlns:m="http://schemas.openxmlformats.org/officeDocument/2006/math">
                    <m:r>
                      <a:rPr lang="en-US" sz="1400" b="0" i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14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14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L" sz="1400" dirty="0">
                    <a:solidFill>
                      <a:srgbClr val="FFFFFF"/>
                    </a:solidFill>
                  </a:rPr>
                  <a:t>daviation from the exit optical axis</a:t>
                </a:r>
              </a:p>
              <a:p>
                <a:r>
                  <a:rPr lang="en-US" sz="1400" dirty="0">
                    <a:solidFill>
                      <a:srgbClr val="FFFFFF"/>
                    </a:solidFill>
                  </a:rPr>
                  <a:t>For small incident angle the refraction angle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14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L" sz="1400" dirty="0">
                    <a:solidFill>
                      <a:srgbClr val="FFFFFF"/>
                    </a:solidFill>
                  </a:rPr>
                  <a:t>is also the incident angle when exiting the prism so regardless of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L" sz="1400" dirty="0">
                    <a:solidFill>
                      <a:srgbClr val="FFFFFF"/>
                    </a:solidFill>
                  </a:rPr>
                  <a:t> </a:t>
                </a:r>
                <a:br>
                  <a:rPr lang="en-IL" sz="1400" dirty="0">
                    <a:solidFill>
                      <a:srgbClr val="FFFFFF"/>
                    </a:solidFill>
                  </a:rPr>
                </a:br>
                <a:r>
                  <a:rPr lang="en-IL" sz="1400" dirty="0">
                    <a:solidFill>
                      <a:srgbClr val="FFFFFF"/>
                    </a:solidFill>
                  </a:rPr>
                  <a:t>(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4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4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L" sz="1400" dirty="0">
                    <a:solidFill>
                      <a:srgbClr val="FFFFFF"/>
                    </a:solidFill>
                  </a:rPr>
                  <a:t>)  the refraction angle will be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14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L" sz="1400" dirty="0">
                    <a:solidFill>
                      <a:srgbClr val="FFFFFF"/>
                    </a:solidFill>
                  </a:rPr>
                  <a:t> with respect for the exit surface. </a:t>
                </a:r>
                <a:r>
                  <a:rPr lang="en-US" sz="1400" dirty="0">
                    <a:solidFill>
                      <a:srgbClr val="FFFFFF"/>
                    </a:solidFill>
                  </a:rPr>
                  <a:t>S</a:t>
                </a:r>
                <a:r>
                  <a:rPr lang="en-IL" sz="1400" dirty="0">
                    <a:solidFill>
                      <a:srgbClr val="FFFFFF"/>
                    </a:solidFill>
                  </a:rPr>
                  <a:t>o </a:t>
                </a:r>
                <a14:m>
                  <m:oMath xmlns:m="http://schemas.openxmlformats.org/officeDocument/2006/math">
                    <m:r>
                      <a:rPr lang="en-US" sz="1400" b="0" i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14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14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L" sz="1400" dirty="0">
                    <a:solidFill>
                      <a:srgbClr val="FFFFFF"/>
                    </a:solidFill>
                  </a:rPr>
                  <a:t>with respect for the exit optical axis</a:t>
                </a:r>
              </a:p>
            </p:txBody>
          </p:sp>
        </mc:Choice>
        <mc:Fallback xmlns="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87CB7DEF-97AA-9882-A245-99FFE9A9D0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55" y="1911359"/>
                <a:ext cx="3034766" cy="3932393"/>
              </a:xfrm>
              <a:prstGeom prst="rect">
                <a:avLst/>
              </a:prstGeom>
              <a:blipFill>
                <a:blip r:embed="rId5"/>
                <a:stretch>
                  <a:fillRect t="-965" r="-208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72641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9C6E6F-E3C8-9C90-E466-D1EE9AB2B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34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D317D4-2610-AC89-D732-5B1CDF18D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Theoretical Background and calculations</a:t>
            </a:r>
            <a:br>
              <a:rPr lang="en-US" sz="33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</a:br>
            <a:endParaRPr lang="en-US" sz="3300" b="0" i="0" kern="1200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F8CE7-64F6-9311-68E0-F6861B88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spcAft>
                <a:spcPts val="600"/>
              </a:spcAft>
            </a:pPr>
            <a:fld id="{D57F1E4F-1CFF-5643-939E-02111984F565}" type="slidenum">
              <a:rPr lang="en-US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7</a:t>
            </a:fld>
            <a:endParaRPr lang="en-US">
              <a:solidFill>
                <a:srgbClr val="FFFFFF"/>
              </a:solidFill>
            </a:endParaRPr>
          </a:p>
        </p:txBody>
      </p:sp>
      <p:sp useBgFill="1">
        <p:nvSpPr>
          <p:cNvPr id="36" name="Freeform: Shape 35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IL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D0851A6-009A-3C32-0AC9-2F3F8F62490A}"/>
              </a:ext>
            </a:extLst>
          </p:cNvPr>
          <p:cNvSpPr txBox="1">
            <a:spLocks/>
          </p:cNvSpPr>
          <p:nvPr/>
        </p:nvSpPr>
        <p:spPr>
          <a:xfrm>
            <a:off x="3362633" y="1195370"/>
            <a:ext cx="5122606" cy="3658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en-US" dirty="0"/>
          </a:p>
        </p:txBody>
      </p:sp>
      <p:pic>
        <p:nvPicPr>
          <p:cNvPr id="25" name="Picture 24" descr="A close-up of math formulas&#10;&#10;AI-generated content may be incorrect.">
            <a:extLst>
              <a:ext uri="{FF2B5EF4-FFF2-40B4-BE49-F238E27FC236}">
                <a16:creationId xmlns:a16="http://schemas.microsoft.com/office/drawing/2014/main" id="{45D94977-B39B-C16F-1E5E-7A02EBE29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949" y="2026751"/>
            <a:ext cx="9563490" cy="4566564"/>
          </a:xfrm>
          <a:prstGeom prst="rect">
            <a:avLst/>
          </a:prstGeom>
          <a:effectLst/>
        </p:spPr>
      </p:pic>
      <p:pic>
        <p:nvPicPr>
          <p:cNvPr id="6" name="Content Placeholder 6" descr="A logo with text on it&#10;&#10;AI-generated content may be incorrect.">
            <a:extLst>
              <a:ext uri="{FF2B5EF4-FFF2-40B4-BE49-F238E27FC236}">
                <a16:creationId xmlns:a16="http://schemas.microsoft.com/office/drawing/2014/main" id="{28604EDB-154F-1845-739A-5BF2611AA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6353" y="82639"/>
            <a:ext cx="610478" cy="1070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2007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9D427-4D64-5753-0067-6BA01764B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Errors approximation and implications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30B09-8357-DA3A-7E44-D7B340ABC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8</a:t>
            </a:fld>
            <a:endParaRPr lang="en-US" dirty="0"/>
          </a:p>
        </p:txBody>
      </p:sp>
      <p:pic>
        <p:nvPicPr>
          <p:cNvPr id="5" name="Picture 4" descr="A logo with a circle and a pink stripe&#10;&#10;AI-generated content may be incorrect.">
            <a:extLst>
              <a:ext uri="{FF2B5EF4-FFF2-40B4-BE49-F238E27FC236}">
                <a16:creationId xmlns:a16="http://schemas.microsoft.com/office/drawing/2014/main" id="{7E462446-41FD-3AC3-4C37-CCC072E73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8204" y="5854217"/>
            <a:ext cx="2538627" cy="788363"/>
          </a:xfrm>
          <a:prstGeom prst="rect">
            <a:avLst/>
          </a:prstGeom>
        </p:spPr>
      </p:pic>
      <p:pic>
        <p:nvPicPr>
          <p:cNvPr id="6" name="Content Placeholder 6" descr="A logo with text on it&#10;&#10;AI-generated content may be incorrect.">
            <a:extLst>
              <a:ext uri="{FF2B5EF4-FFF2-40B4-BE49-F238E27FC236}">
                <a16:creationId xmlns:a16="http://schemas.microsoft.com/office/drawing/2014/main" id="{0143F987-64A9-9664-B278-CFAB0DA94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6353" y="82639"/>
            <a:ext cx="610478" cy="10703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74EBB060-BDDA-ACDC-7CCE-7A7B7AD2D295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20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8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6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5pPr>
                <a:lvl6pPr marL="2506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9pPr>
              </a:lstStyle>
              <a:p>
                <a:r>
                  <a:rPr lang="en-US" sz="1400" dirty="0">
                    <a:solidFill>
                      <a:srgbClr val="FFFFFF"/>
                    </a:solidFill>
                  </a:rPr>
                  <a:t>Tilt angle deviation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𝛿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40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,</m:t>
                        </m:r>
                        <m:r>
                          <a:rPr lang="en-US" sz="14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𝛿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FFFFFF"/>
                    </a:solidFill>
                  </a:rPr>
                  <a:t> will introduce incident errors from optical axis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4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400" dirty="0">
                  <a:solidFill>
                    <a:srgbClr val="FFFFFF"/>
                  </a:solidFill>
                </a:endParaRPr>
              </a:p>
              <a:p>
                <a:r>
                  <a:rPr lang="en-US" sz="1400" dirty="0">
                    <a:solidFill>
                      <a:srgbClr val="FFFFFF"/>
                    </a:solidFill>
                  </a:rPr>
                  <a:t>Tilt 1 max error</a:t>
                </a:r>
                <a:r>
                  <a:rPr lang="en-US" sz="1400" dirty="0">
                    <a:solidFill>
                      <a:srgbClr val="FFFFFF"/>
                    </a:solidFill>
                    <a:sym typeface="Wingdings" pitchFamily="2" charset="2"/>
                  </a:rPr>
                  <a:t>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𝑒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1</m:t>
                        </m:r>
                      </m:sub>
                    </m:sSub>
                  </m:oMath>
                </a14:m>
                <a:br>
                  <a:rPr lang="en-US" sz="1400" dirty="0">
                    <a:solidFill>
                      <a:srgbClr val="FFFFFF"/>
                    </a:solidFill>
                    <a:sym typeface="Wingdings" pitchFamily="2" charset="2"/>
                  </a:rPr>
                </a:br>
                <a:r>
                  <a:rPr lang="en-US" sz="1400" dirty="0">
                    <a:solidFill>
                      <a:srgbClr val="FFFFFF"/>
                    </a:solidFill>
                    <a:sym typeface="Wingdings" pitchFamily="2" charset="2"/>
                  </a:rPr>
                  <a:t>define the max error so the entire beam will land on the 2nd prism</a:t>
                </a:r>
              </a:p>
              <a:p>
                <a:r>
                  <a:rPr lang="en-US" sz="1400" dirty="0">
                    <a:solidFill>
                      <a:srgbClr val="FFFFFF"/>
                    </a:solidFill>
                    <a:sym typeface="Wingdings" pitchFamily="2" charset="2"/>
                  </a:rPr>
                  <a:t>Implication:</a:t>
                </a:r>
                <a:br>
                  <a:rPr lang="en-US" sz="1400" dirty="0">
                    <a:solidFill>
                      <a:srgbClr val="FFFFFF"/>
                    </a:solidFill>
                    <a:sym typeface="Wingdings" pitchFamily="2" charset="2"/>
                  </a:rPr>
                </a:br>
                <a:r>
                  <a:rPr lang="en-US" sz="1400" dirty="0">
                    <a:solidFill>
                      <a:srgbClr val="FFFFFF"/>
                    </a:solidFill>
                    <a:sym typeface="Wingdings" pitchFamily="2" charset="2"/>
                  </a:rPr>
                  <a:t>beam won’t land in the middle of the prism so monochromatic shift is introduced at the image</a:t>
                </a:r>
                <a:endParaRPr lang="en-IL" sz="1400" dirty="0">
                  <a:solidFill>
                    <a:srgbClr val="FFFFFF"/>
                  </a:solidFill>
                </a:endParaRPr>
              </a:p>
              <a:p>
                <a:r>
                  <a:rPr lang="en-US" sz="1400" dirty="0">
                    <a:solidFill>
                      <a:srgbClr val="FFFFFF"/>
                    </a:solidFill>
                  </a:rPr>
                  <a:t>Tilt 2 max error</a:t>
                </a:r>
                <a:r>
                  <a:rPr lang="en-US" sz="1400" dirty="0">
                    <a:solidFill>
                      <a:srgbClr val="FFFFFF"/>
                    </a:solidFill>
                    <a:sym typeface="Wingdings" pitchFamily="2" charset="2"/>
                  </a:rPr>
                  <a:t>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𝑒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2</m:t>
                        </m:r>
                      </m:sub>
                    </m:sSub>
                  </m:oMath>
                </a14:m>
                <a:br>
                  <a:rPr lang="en-US" sz="1400" dirty="0">
                    <a:solidFill>
                      <a:srgbClr val="FFFFFF"/>
                    </a:solidFill>
                  </a:rPr>
                </a:br>
                <a:r>
                  <a:rPr lang="en-US" sz="1400" dirty="0">
                    <a:solidFill>
                      <a:srgbClr val="FFFFFF"/>
                    </a:solidFill>
                  </a:rPr>
                  <a:t>define the max error so the entire beam will hit the </a:t>
                </a:r>
                <a:r>
                  <a:rPr lang="en-US" sz="1400" i="1" dirty="0">
                    <a:solidFill>
                      <a:srgbClr val="FFFFFF"/>
                    </a:solidFill>
                  </a:rPr>
                  <a:t>patterned material.</a:t>
                </a:r>
              </a:p>
              <a:p>
                <a:r>
                  <a:rPr lang="en-US" sz="1400" dirty="0">
                    <a:solidFill>
                      <a:srgbClr val="FFFFFF"/>
                    </a:solidFill>
                    <a:sym typeface="Wingdings" pitchFamily="2" charset="2"/>
                  </a:rPr>
                  <a:t>Implication:</a:t>
                </a:r>
                <a:br>
                  <a:rPr lang="en-US" sz="1400" dirty="0">
                    <a:solidFill>
                      <a:srgbClr val="FFFFFF"/>
                    </a:solidFill>
                    <a:sym typeface="Wingdings" pitchFamily="2" charset="2"/>
                  </a:rPr>
                </a:br>
                <a:r>
                  <a:rPr lang="en-US" sz="1400" dirty="0">
                    <a:solidFill>
                      <a:srgbClr val="FFFFFF"/>
                    </a:solidFill>
                    <a:sym typeface="Wingdings" pitchFamily="2" charset="2"/>
                  </a:rPr>
                  <a:t>dependent on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𝑒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L" sz="1400" dirty="0">
                    <a:solidFill>
                      <a:srgbClr val="FFFFFF"/>
                    </a:solidFill>
                  </a:rPr>
                  <a:t> actual error.</a:t>
                </a:r>
                <a:br>
                  <a:rPr lang="en-IL" sz="1400" dirty="0">
                    <a:solidFill>
                      <a:srgbClr val="FFFFFF"/>
                    </a:solidFill>
                  </a:rPr>
                </a:br>
                <a:endParaRPr lang="en-IL" sz="1400" dirty="0">
                  <a:solidFill>
                    <a:srgbClr val="FFFFFF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4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en-US" sz="14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1400" b="0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US" sz="1400" b="0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400" b="0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fName>
                      <m:e>
                        <m:f>
                          <m:fPr>
                            <m:ctrlPr>
                              <a:rPr lang="en-US" sz="1400" b="0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400" b="0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400" b="0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sz="14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en-US" sz="14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4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sz="14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 [</m:t>
                    </m:r>
                    <m:r>
                      <a:rPr lang="en-US" sz="14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𝑚𝑟𝑎𝑑</m:t>
                    </m:r>
                    <m:r>
                      <a:rPr lang="en-US" sz="14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IL" sz="1400" dirty="0">
                    <a:solidFill>
                      <a:srgbClr val="FFFFFF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4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US" sz="14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 [</m:t>
                    </m:r>
                    <m:r>
                      <a:rPr lang="en-US" sz="14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𝑑𝑒𝑔</m:t>
                    </m:r>
                    <m:r>
                      <a:rPr lang="en-US" sz="14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IL" sz="1400" dirty="0">
                  <a:solidFill>
                    <a:srgbClr val="FFFFFF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4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en-US" sz="14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1400" b="0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US" sz="1400" b="0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400" b="0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fName>
                      <m:e>
                        <m:f>
                          <m:fPr>
                            <m:ctrlPr>
                              <a:rPr lang="en-US" sz="1400" b="0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400" b="0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400" b="0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sz="14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  <m:r>
                      <a:rPr lang="en-US" sz="14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en-US" sz="140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40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09</m:t>
                    </m:r>
                    <m:r>
                      <a:rPr lang="en-US" sz="14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 [</m:t>
                    </m:r>
                    <m:r>
                      <a:rPr lang="en-US" sz="14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𝑑𝑒𝑔</m:t>
                    </m:r>
                    <m:r>
                      <a:rPr lang="en-US" sz="14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IL" sz="1400" dirty="0">
                  <a:solidFill>
                    <a:srgbClr val="FFFFFF"/>
                  </a:solidFill>
                </a:endParaRPr>
              </a:p>
              <a:p>
                <a:endParaRPr lang="en-IL" sz="1400" dirty="0">
                  <a:solidFill>
                    <a:srgbClr val="FFFFFF"/>
                  </a:solidFill>
                </a:endParaRPr>
              </a:p>
              <a:p>
                <a:endParaRPr lang="en-IL" sz="1400" dirty="0">
                  <a:solidFill>
                    <a:srgbClr val="FFFFFF"/>
                  </a:solidFill>
                </a:endParaRPr>
              </a:p>
              <a:p>
                <a:endParaRPr lang="en-IL" sz="14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74EBB060-BDDA-ACDC-7CCE-7A7B7AD2D29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prstGeom prst="rect">
                <a:avLst/>
              </a:prstGeom>
              <a:blipFill>
                <a:blip r:embed="rId4"/>
                <a:stretch>
                  <a:fillRect t="-30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471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7758D-5C20-4D0E-3307-E88953A75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calibration methods</a:t>
            </a:r>
            <a:br>
              <a:rPr lang="en-US" dirty="0"/>
            </a:b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78E8F-8DF8-8AA1-2B47-B1757E157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08B2D-6E12-B29E-87C8-E0F6CE5C9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9</a:t>
            </a:fld>
            <a:endParaRPr lang="en-US" dirty="0"/>
          </a:p>
        </p:txBody>
      </p:sp>
      <p:pic>
        <p:nvPicPr>
          <p:cNvPr id="5" name="Picture 4" descr="A logo with a circle and a pink stripe&#10;&#10;AI-generated content may be incorrect.">
            <a:extLst>
              <a:ext uri="{FF2B5EF4-FFF2-40B4-BE49-F238E27FC236}">
                <a16:creationId xmlns:a16="http://schemas.microsoft.com/office/drawing/2014/main" id="{5CB9B10A-5496-F2FB-107A-66E747783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8204" y="5854217"/>
            <a:ext cx="2538627" cy="78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737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97505-3DC1-057D-E401-EFFCB4816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81114"/>
          </a:xfrm>
        </p:spPr>
        <p:txBody>
          <a:bodyPr/>
          <a:lstStyle/>
          <a:p>
            <a:r>
              <a:rPr lang="en-US" dirty="0"/>
              <a:t>code V</a:t>
            </a:r>
            <a:br>
              <a:rPr lang="en-US" dirty="0"/>
            </a:b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6344D-ED96-AC52-0F6F-79DA69FE8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159" y="1656711"/>
            <a:ext cx="3015714" cy="419548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We’ve created a simulation of the system on </a:t>
            </a:r>
            <a:r>
              <a:rPr lang="en-US" dirty="0" err="1"/>
              <a:t>CodeV</a:t>
            </a:r>
            <a:r>
              <a:rPr lang="en-US" dirty="0"/>
              <a:t>, to check its performance and tolerances  for the prism positions.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Now we can apply tilt deviation on the prisms, and check the spot diagram</a:t>
            </a:r>
          </a:p>
          <a:p>
            <a:endParaRPr lang="en-US" dirty="0"/>
          </a:p>
          <a:p>
            <a:endParaRPr lang="en-US" dirty="0"/>
          </a:p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413080-7C0D-B2C1-7BA9-E835794CF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10</a:t>
            </a:fld>
            <a:endParaRPr lang="en-US" dirty="0"/>
          </a:p>
        </p:txBody>
      </p:sp>
      <p:pic>
        <p:nvPicPr>
          <p:cNvPr id="5" name="Picture 4" descr="A logo with a circle and a pink stripe&#10;&#10;AI-generated content may be incorrect.">
            <a:extLst>
              <a:ext uri="{FF2B5EF4-FFF2-40B4-BE49-F238E27FC236}">
                <a16:creationId xmlns:a16="http://schemas.microsoft.com/office/drawing/2014/main" id="{1C0C0C48-F5E4-7057-E13B-266D83D90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8204" y="5854217"/>
            <a:ext cx="2538627" cy="7883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BDFE10-B8B0-4288-8519-6B9D72573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601" y="1656711"/>
            <a:ext cx="7846824" cy="2373861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135C125-2AF9-4FA5-93DC-1627ABB52E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7501" y="4153451"/>
            <a:ext cx="2088275" cy="14697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45F2EA-9D96-4012-BD0F-8FEDD07525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2112" y="4265923"/>
            <a:ext cx="2765017" cy="225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191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FC035-DA03-6B1A-B023-45C66DC1F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V</a:t>
            </a:r>
            <a:br>
              <a:rPr lang="en-US" dirty="0"/>
            </a:b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3DB4E-2AD4-7CDC-50AA-C2B013490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11</a:t>
            </a:fld>
            <a:endParaRPr lang="en-US" dirty="0"/>
          </a:p>
        </p:txBody>
      </p:sp>
      <p:pic>
        <p:nvPicPr>
          <p:cNvPr id="5" name="Picture 4" descr="A logo with a circle and a pink stripe&#10;&#10;AI-generated content may be incorrect.">
            <a:extLst>
              <a:ext uri="{FF2B5EF4-FFF2-40B4-BE49-F238E27FC236}">
                <a16:creationId xmlns:a16="http://schemas.microsoft.com/office/drawing/2014/main" id="{9EEEC7B6-88DE-34B1-5DFC-E020527C2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8204" y="5854217"/>
            <a:ext cx="2538627" cy="788363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73C213F1-DBE7-4BB8-B8EE-6322BA98CA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348472" y="1528197"/>
            <a:ext cx="3424072" cy="1400530"/>
          </a:xfr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DD218EC-7243-4762-A84A-4D03D0C5D0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2525" y="1509119"/>
            <a:ext cx="3424072" cy="143868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3C096B0-A2D7-481C-A673-8C5D1A1A5BA8}"/>
                  </a:ext>
                </a:extLst>
              </p:cNvPr>
              <p:cNvSpPr txBox="1"/>
              <p:nvPr/>
            </p:nvSpPr>
            <p:spPr>
              <a:xfrm>
                <a:off x="1521524" y="3429000"/>
                <a:ext cx="7465160" cy="2308324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dirty="0"/>
                  <a:t>We got that at deviation range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∓</m:t>
                    </m:r>
                  </m:oMath>
                </a14:m>
                <a:r>
                  <a:rPr lang="en-US" dirty="0"/>
                  <a:t> 0.11 deg, the beam incident the prism 2. But at the image plane the beam is deviated from the optical axis  by more then 10 mm therefore it will miss the target. </a:t>
                </a:r>
              </a:p>
              <a:p>
                <a:r>
                  <a:rPr lang="en-US" dirty="0"/>
                  <a:t>We found that we need max rotation angle 0.055 deg for prism 1.</a:t>
                </a:r>
              </a:p>
              <a:p>
                <a:endParaRPr lang="en-US" dirty="0"/>
              </a:p>
              <a:p>
                <a:r>
                  <a:rPr lang="en-US" dirty="0"/>
                  <a:t>We were surprised not to see any chromatic aberrations, due the difference in the optical paths inside prism 2.</a:t>
                </a:r>
                <a:endParaRPr lang="he-IL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3C096B0-A2D7-481C-A673-8C5D1A1A5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1524" y="3429000"/>
                <a:ext cx="7465160" cy="2308324"/>
              </a:xfrm>
              <a:prstGeom prst="rect">
                <a:avLst/>
              </a:prstGeom>
              <a:blipFill>
                <a:blip r:embed="rId5"/>
                <a:stretch>
                  <a:fillRect l="-735" t="-1587" r="-654" b="-317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C6823BD1-C7AD-425C-B8B4-25A6E16540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2475" y="1528197"/>
            <a:ext cx="2440130" cy="2774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101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0ADB2-8A3E-4F29-AE33-6B5AFC648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V</a:t>
            </a:r>
            <a:endParaRPr lang="he-I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7290F3-D4B1-46B6-8927-3C837E2A45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04293" y="2082415"/>
                <a:ext cx="7420275" cy="4195481"/>
              </a:xfrm>
            </p:spPr>
            <p:txBody>
              <a:bodyPr/>
              <a:lstStyle/>
              <a:p>
                <a:r>
                  <a:rPr lang="en-US" dirty="0"/>
                  <a:t>For prism 2 we can tolerate a deviation range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∓</m:t>
                    </m:r>
                  </m:oMath>
                </a14:m>
                <a:r>
                  <a:rPr lang="en-US" dirty="0"/>
                  <a:t> 0.11 deg, and the beam stay inside a diameter of 20 mm at the image plane.</a:t>
                </a:r>
              </a:p>
              <a:p>
                <a:r>
                  <a:rPr lang="en-US" dirty="0"/>
                  <a:t>Again no chromatic aberrations.</a:t>
                </a:r>
                <a:endParaRPr lang="he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7290F3-D4B1-46B6-8927-3C837E2A45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4293" y="2082415"/>
                <a:ext cx="7420275" cy="4195481"/>
              </a:xfrm>
              <a:blipFill>
                <a:blip r:embed="rId2"/>
                <a:stretch>
                  <a:fillRect l="-329" t="-872" r="-8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6630B-2005-446F-A5CC-9098684F0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96473D-AC38-4099-B8F2-DF3D6F6C5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7754" y="2082415"/>
            <a:ext cx="2386159" cy="2310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598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B6B27-AA9E-4775-9346-5D0EDBF29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V		</a:t>
            </a:r>
            <a:endParaRPr lang="he-I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C84012-5FE4-44D8-9103-09D5DD82F8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6111" y="1384325"/>
                <a:ext cx="7426173" cy="490832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Now we would like to check the system’s tolerance to the flatness of the reflective surface. The prism’s data sheet specifying flatness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633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𝑛𝑚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63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𝑛𝑚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𝑃𝑒𝑎𝑘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-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𝑡𝑜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-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𝑣𝑎𝑙𝑙𝑒𝑦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𝑑𝑒𝑣𝑖𝑎𝑡𝑖𝑜𝑛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That yield a curvature radius of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</m:den>
                    </m:f>
                  </m:oMath>
                </a14:m>
                <a:r>
                  <a:rPr lang="en-US" dirty="0"/>
                  <a:t> = </a:t>
                </a:r>
                <a:r>
                  <a:rPr lang="en-US" i="1" dirty="0">
                    <a:latin typeface="Cambria Math" panose="02040503050406030204" pitchFamily="18" charset="0"/>
                  </a:rPr>
                  <a:t>790000 mm.</a:t>
                </a:r>
              </a:p>
              <a:p>
                <a:pPr marL="0" indent="0">
                  <a:buNone/>
                </a:pPr>
                <a:r>
                  <a:rPr lang="en-US" dirty="0"/>
                  <a:t>Which is very large, applying that on the system make no visible difference, so we’ll reduce that radius to find the tolerance for the flatness.</a:t>
                </a:r>
              </a:p>
              <a:p>
                <a:pPr marL="0" indent="0">
                  <a:buNone/>
                </a:pPr>
                <a:r>
                  <a:rPr lang="en-US" dirty="0"/>
                  <a:t>We found that our limit is R = 10000 mm, in order to keep the beam diameter less than 20 mm. we also noticed a small chromatic aberration (not a problem for our set up)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C84012-5FE4-44D8-9103-09D5DD82F8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6111" y="1384325"/>
                <a:ext cx="7426173" cy="4908320"/>
              </a:xfrm>
              <a:blipFill>
                <a:blip r:embed="rId2"/>
                <a:stretch>
                  <a:fillRect l="-903" t="-62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80D41C-4E22-48A1-AF49-E9AD3C75B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88681D-CB15-498B-BC79-C0EE64A62A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8653" y="1512144"/>
            <a:ext cx="3007774" cy="25879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1DCBF2-69E7-49EE-A745-17030D76D5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848" y="4300916"/>
            <a:ext cx="3708579" cy="2278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0479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436</TotalTime>
  <Words>808</Words>
  <Application>Microsoft Office PowerPoint</Application>
  <PresentationFormat>Widescreen</PresentationFormat>
  <Paragraphs>87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Cambria Math</vt:lpstr>
      <vt:lpstr>Century Gothic</vt:lpstr>
      <vt:lpstr>Wingdings 3</vt:lpstr>
      <vt:lpstr>Ion</vt:lpstr>
      <vt:lpstr>Final project – Introduction to optical ingeenireing (83922)</vt:lpstr>
      <vt:lpstr>Agenda</vt:lpstr>
      <vt:lpstr>Introduction </vt:lpstr>
      <vt:lpstr>System description </vt:lpstr>
      <vt:lpstr>Main Challenge </vt:lpstr>
      <vt:lpstr>Theoretical Background and calculations </vt:lpstr>
      <vt:lpstr>Theoretical Background and calculations </vt:lpstr>
      <vt:lpstr>Errors approximation and implications</vt:lpstr>
      <vt:lpstr>calibration methods </vt:lpstr>
      <vt:lpstr>code V </vt:lpstr>
      <vt:lpstr>Code V </vt:lpstr>
      <vt:lpstr>Code V</vt:lpstr>
      <vt:lpstr>Code V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project – Introduction to optical ingeenireing (83922)</dc:title>
  <dc:creator>Assaf Shahino</dc:creator>
  <cp:lastModifiedBy>Elisha Gur</cp:lastModifiedBy>
  <cp:revision>16</cp:revision>
  <dcterms:created xsi:type="dcterms:W3CDTF">2025-02-23T11:21:51Z</dcterms:created>
  <dcterms:modified xsi:type="dcterms:W3CDTF">2025-02-23T18:40:49Z</dcterms:modified>
</cp:coreProperties>
</file>